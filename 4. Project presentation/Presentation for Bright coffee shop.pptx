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and\Downloads\Brightlearning_coffee_shop_outpu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and\Downloads\Brightlearning_coffee_shop_outpu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and\Downloads\Brightlearning_coffee_shop_outpu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and\Downloads\Brightlearning_coffee_shop_outpu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and\Downloads\Brightlearning_coffee_shop_outpu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and\Downloads\Brightlearning_coffee_shop_outpu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[Brightlearning_coffee_shop_output.xlsx]Revenue Graphs!PivotTable1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Store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Graphs'!$B$3:$B$4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Graphs'!$A$5:$A$11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Graphs'!$B$5:$B$11</c:f>
              <c:numCache>
                <c:formatCode>_-[$R-1C09]* #\ ##0.00_-;\-[$R-1C09]* #\ ##0.00_-;_-[$R-1C09]* "-"??_-;_-@_-</c:formatCode>
                <c:ptCount val="6"/>
                <c:pt idx="0">
                  <c:v>27313.660000000076</c:v>
                </c:pt>
                <c:pt idx="1">
                  <c:v>25105.340000000077</c:v>
                </c:pt>
                <c:pt idx="2">
                  <c:v>32835.430000000029</c:v>
                </c:pt>
                <c:pt idx="3">
                  <c:v>39477.609999999833</c:v>
                </c:pt>
                <c:pt idx="4">
                  <c:v>52428.759999999311</c:v>
                </c:pt>
                <c:pt idx="5">
                  <c:v>55083.109999999266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C-464C-B60B-CB71795FE673}"/>
            </c:ext>
          </c:extLst>
        </c:ser>
        <c:ser>
          <c:idx val="1"/>
          <c:order val="1"/>
          <c:tx>
            <c:strRef>
              <c:f>'Revenue Graphs'!$C$3:$C$4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Graphs'!$A$5:$A$11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Graphs'!$C$5:$C$11</c:f>
              <c:numCache>
                <c:formatCode>_-[$R-1C09]* #\ ##0.00_-;\-[$R-1C09]* #\ ##0.00_-;_-[$R-1C09]* "-"??_-;_-@_-</c:formatCode>
                <c:ptCount val="6"/>
                <c:pt idx="0">
                  <c:v>27820.64999999998</c:v>
                </c:pt>
                <c:pt idx="1">
                  <c:v>25719.799999999977</c:v>
                </c:pt>
                <c:pt idx="2">
                  <c:v>33110.569999999861</c:v>
                </c:pt>
                <c:pt idx="3">
                  <c:v>40304.139999999752</c:v>
                </c:pt>
                <c:pt idx="4">
                  <c:v>52598.929999999375</c:v>
                </c:pt>
                <c:pt idx="5">
                  <c:v>56957.079999999347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C-464C-B60B-CB71795FE673}"/>
            </c:ext>
          </c:extLst>
        </c:ser>
        <c:ser>
          <c:idx val="2"/>
          <c:order val="2"/>
          <c:tx>
            <c:strRef>
              <c:f>'Revenue Graphs'!$D$3:$D$4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Graphs'!$A$5:$A$11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Graphs'!$D$5:$D$11</c:f>
              <c:numCache>
                <c:formatCode>_-[$R-1C09]* #\ ##0.00_-;\-[$R-1C09]* #\ ##0.00_-;_-[$R-1C09]* "-"??_-;_-@_-</c:formatCode>
                <c:ptCount val="6"/>
                <c:pt idx="0">
                  <c:v>26543.429999999942</c:v>
                </c:pt>
                <c:pt idx="1">
                  <c:v>25320.049999999905</c:v>
                </c:pt>
                <c:pt idx="2">
                  <c:v>32888.679999999811</c:v>
                </c:pt>
                <c:pt idx="3">
                  <c:v>39159.329999999653</c:v>
                </c:pt>
                <c:pt idx="4">
                  <c:v>51700.0699999996</c:v>
                </c:pt>
                <c:pt idx="5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1C-464C-B60B-CB71795FE6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5900608"/>
        <c:axId val="265902048"/>
      </c:barChart>
      <c:catAx>
        <c:axId val="26590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5902048"/>
        <c:crosses val="autoZero"/>
        <c:auto val="1"/>
        <c:lblAlgn val="ctr"/>
        <c:lblOffset val="100"/>
        <c:noMultiLvlLbl val="0"/>
      </c:catAx>
      <c:valAx>
        <c:axId val="265902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5900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[Brightlearning_coffee_shop_output.xlsx]Revenue Graphs!PivotTable2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Daily Store Revenue per Month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'Revenue Graphs'!$B$17:$B$18</c:f>
              <c:strCache>
                <c:ptCount val="1"/>
                <c:pt idx="0">
                  <c:v>Astoria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'Revenue Graphs'!$A$19:$A$47</c:f>
              <c:strCache>
                <c:ptCount val="28"/>
                <c:pt idx="0">
                  <c:v>01-Feb</c:v>
                </c:pt>
                <c:pt idx="1">
                  <c:v>02-Feb</c:v>
                </c:pt>
                <c:pt idx="2">
                  <c:v>03-Feb</c:v>
                </c:pt>
                <c:pt idx="3">
                  <c:v>04-Feb</c:v>
                </c:pt>
                <c:pt idx="4">
                  <c:v>05-Feb</c:v>
                </c:pt>
                <c:pt idx="5">
                  <c:v>06-Feb</c:v>
                </c:pt>
                <c:pt idx="6">
                  <c:v>07-Feb</c:v>
                </c:pt>
                <c:pt idx="7">
                  <c:v>08-Feb</c:v>
                </c:pt>
                <c:pt idx="8">
                  <c:v>09-Feb</c:v>
                </c:pt>
                <c:pt idx="9">
                  <c:v>10-Feb</c:v>
                </c:pt>
                <c:pt idx="10">
                  <c:v>11-Feb</c:v>
                </c:pt>
                <c:pt idx="11">
                  <c:v>12-Feb</c:v>
                </c:pt>
                <c:pt idx="12">
                  <c:v>13-Feb</c:v>
                </c:pt>
                <c:pt idx="13">
                  <c:v>14-Feb</c:v>
                </c:pt>
                <c:pt idx="14">
                  <c:v>15-Feb</c:v>
                </c:pt>
                <c:pt idx="15">
                  <c:v>16-Feb</c:v>
                </c:pt>
                <c:pt idx="16">
                  <c:v>17-Feb</c:v>
                </c:pt>
                <c:pt idx="17">
                  <c:v>18-Feb</c:v>
                </c:pt>
                <c:pt idx="18">
                  <c:v>19-Feb</c:v>
                </c:pt>
                <c:pt idx="19">
                  <c:v>20-Feb</c:v>
                </c:pt>
                <c:pt idx="20">
                  <c:v>21-Feb</c:v>
                </c:pt>
                <c:pt idx="21">
                  <c:v>22-Feb</c:v>
                </c:pt>
                <c:pt idx="22">
                  <c:v>23-Feb</c:v>
                </c:pt>
                <c:pt idx="23">
                  <c:v>24-Feb</c:v>
                </c:pt>
                <c:pt idx="24">
                  <c:v>25-Feb</c:v>
                </c:pt>
                <c:pt idx="25">
                  <c:v>26-Feb</c:v>
                </c:pt>
                <c:pt idx="26">
                  <c:v>27-Feb</c:v>
                </c:pt>
                <c:pt idx="27">
                  <c:v>28-Feb</c:v>
                </c:pt>
              </c:strCache>
            </c:strRef>
          </c:cat>
          <c:val>
            <c:numRef>
              <c:f>'Revenue Graphs'!$B$19:$B$47</c:f>
              <c:numCache>
                <c:formatCode>_-[$R-1C09]* #\ ##0.00_-;\-[$R-1C09]* #\ ##0.00_-;_-[$R-1C09]* "-"??_-;_-@_-</c:formatCode>
                <c:ptCount val="28"/>
                <c:pt idx="0">
                  <c:v>833.69999999999993</c:v>
                </c:pt>
                <c:pt idx="1">
                  <c:v>944.80000000000007</c:v>
                </c:pt>
                <c:pt idx="2">
                  <c:v>940.2</c:v>
                </c:pt>
                <c:pt idx="3">
                  <c:v>825.94999999999993</c:v>
                </c:pt>
                <c:pt idx="4">
                  <c:v>871.25000000000011</c:v>
                </c:pt>
                <c:pt idx="5">
                  <c:v>655.35</c:v>
                </c:pt>
                <c:pt idx="6">
                  <c:v>804.30000000000041</c:v>
                </c:pt>
                <c:pt idx="7">
                  <c:v>928.80000000000007</c:v>
                </c:pt>
                <c:pt idx="8">
                  <c:v>866.80000000000041</c:v>
                </c:pt>
                <c:pt idx="9">
                  <c:v>868.00000000000011</c:v>
                </c:pt>
                <c:pt idx="10">
                  <c:v>670.05000000000007</c:v>
                </c:pt>
                <c:pt idx="11">
                  <c:v>680.60000000000014</c:v>
                </c:pt>
                <c:pt idx="12">
                  <c:v>641.9</c:v>
                </c:pt>
                <c:pt idx="13">
                  <c:v>747.05000000000052</c:v>
                </c:pt>
                <c:pt idx="14">
                  <c:v>1254.9499999999994</c:v>
                </c:pt>
                <c:pt idx="15">
                  <c:v>1191.2999999999997</c:v>
                </c:pt>
                <c:pt idx="16">
                  <c:v>967.59999999999968</c:v>
                </c:pt>
                <c:pt idx="17">
                  <c:v>1069.5300000000004</c:v>
                </c:pt>
                <c:pt idx="18">
                  <c:v>1164.3999999999999</c:v>
                </c:pt>
                <c:pt idx="19">
                  <c:v>760.23000000000025</c:v>
                </c:pt>
                <c:pt idx="20">
                  <c:v>870.48000000000047</c:v>
                </c:pt>
                <c:pt idx="21">
                  <c:v>1037.5000000000002</c:v>
                </c:pt>
                <c:pt idx="22">
                  <c:v>904.50000000000011</c:v>
                </c:pt>
                <c:pt idx="23">
                  <c:v>986.9000000000002</c:v>
                </c:pt>
                <c:pt idx="24">
                  <c:v>813.55</c:v>
                </c:pt>
                <c:pt idx="25">
                  <c:v>1030.9000000000005</c:v>
                </c:pt>
                <c:pt idx="26">
                  <c:v>931.85</c:v>
                </c:pt>
                <c:pt idx="27">
                  <c:v>842.9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69-4E46-BF56-D6720AE40932}"/>
            </c:ext>
          </c:extLst>
        </c:ser>
        <c:ser>
          <c:idx val="1"/>
          <c:order val="1"/>
          <c:tx>
            <c:strRef>
              <c:f>'Revenue Graphs'!$C$17:$C$18</c:f>
              <c:strCache>
                <c:ptCount val="1"/>
                <c:pt idx="0">
                  <c:v>Hell's Kitchen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'Revenue Graphs'!$A$19:$A$47</c:f>
              <c:strCache>
                <c:ptCount val="28"/>
                <c:pt idx="0">
                  <c:v>01-Feb</c:v>
                </c:pt>
                <c:pt idx="1">
                  <c:v>02-Feb</c:v>
                </c:pt>
                <c:pt idx="2">
                  <c:v>03-Feb</c:v>
                </c:pt>
                <c:pt idx="3">
                  <c:v>04-Feb</c:v>
                </c:pt>
                <c:pt idx="4">
                  <c:v>05-Feb</c:v>
                </c:pt>
                <c:pt idx="5">
                  <c:v>06-Feb</c:v>
                </c:pt>
                <c:pt idx="6">
                  <c:v>07-Feb</c:v>
                </c:pt>
                <c:pt idx="7">
                  <c:v>08-Feb</c:v>
                </c:pt>
                <c:pt idx="8">
                  <c:v>09-Feb</c:v>
                </c:pt>
                <c:pt idx="9">
                  <c:v>10-Feb</c:v>
                </c:pt>
                <c:pt idx="10">
                  <c:v>11-Feb</c:v>
                </c:pt>
                <c:pt idx="11">
                  <c:v>12-Feb</c:v>
                </c:pt>
                <c:pt idx="12">
                  <c:v>13-Feb</c:v>
                </c:pt>
                <c:pt idx="13">
                  <c:v>14-Feb</c:v>
                </c:pt>
                <c:pt idx="14">
                  <c:v>15-Feb</c:v>
                </c:pt>
                <c:pt idx="15">
                  <c:v>16-Feb</c:v>
                </c:pt>
                <c:pt idx="16">
                  <c:v>17-Feb</c:v>
                </c:pt>
                <c:pt idx="17">
                  <c:v>18-Feb</c:v>
                </c:pt>
                <c:pt idx="18">
                  <c:v>19-Feb</c:v>
                </c:pt>
                <c:pt idx="19">
                  <c:v>20-Feb</c:v>
                </c:pt>
                <c:pt idx="20">
                  <c:v>21-Feb</c:v>
                </c:pt>
                <c:pt idx="21">
                  <c:v>22-Feb</c:v>
                </c:pt>
                <c:pt idx="22">
                  <c:v>23-Feb</c:v>
                </c:pt>
                <c:pt idx="23">
                  <c:v>24-Feb</c:v>
                </c:pt>
                <c:pt idx="24">
                  <c:v>25-Feb</c:v>
                </c:pt>
                <c:pt idx="25">
                  <c:v>26-Feb</c:v>
                </c:pt>
                <c:pt idx="26">
                  <c:v>27-Feb</c:v>
                </c:pt>
                <c:pt idx="27">
                  <c:v>28-Feb</c:v>
                </c:pt>
              </c:strCache>
            </c:strRef>
          </c:cat>
          <c:val>
            <c:numRef>
              <c:f>'Revenue Graphs'!$C$19:$C$47</c:f>
              <c:numCache>
                <c:formatCode>_-[$R-1C09]* #\ ##0.00_-;\-[$R-1C09]* #\ ##0.00_-;_-[$R-1C09]* "-"??_-;_-@_-</c:formatCode>
                <c:ptCount val="28"/>
                <c:pt idx="0">
                  <c:v>849.4</c:v>
                </c:pt>
                <c:pt idx="1">
                  <c:v>883.95000000000016</c:v>
                </c:pt>
                <c:pt idx="2">
                  <c:v>896.00000000000011</c:v>
                </c:pt>
                <c:pt idx="3">
                  <c:v>844.6500000000002</c:v>
                </c:pt>
                <c:pt idx="4">
                  <c:v>709.35</c:v>
                </c:pt>
                <c:pt idx="5">
                  <c:v>796.15000000000032</c:v>
                </c:pt>
                <c:pt idx="6">
                  <c:v>893.25000000000011</c:v>
                </c:pt>
                <c:pt idx="7">
                  <c:v>949.93000000000029</c:v>
                </c:pt>
                <c:pt idx="8">
                  <c:v>859.25000000000034</c:v>
                </c:pt>
                <c:pt idx="9">
                  <c:v>1072.3</c:v>
                </c:pt>
                <c:pt idx="10">
                  <c:v>1031.2100000000003</c:v>
                </c:pt>
                <c:pt idx="11">
                  <c:v>1125.8</c:v>
                </c:pt>
                <c:pt idx="12">
                  <c:v>1185.1500000000003</c:v>
                </c:pt>
                <c:pt idx="13">
                  <c:v>1163.6500000000003</c:v>
                </c:pt>
                <c:pt idx="14">
                  <c:v>850.25000000000034</c:v>
                </c:pt>
                <c:pt idx="15">
                  <c:v>908.23000000000036</c:v>
                </c:pt>
                <c:pt idx="16">
                  <c:v>637.6</c:v>
                </c:pt>
                <c:pt idx="17">
                  <c:v>1049.5000000000005</c:v>
                </c:pt>
                <c:pt idx="18">
                  <c:v>1164.2</c:v>
                </c:pt>
                <c:pt idx="19">
                  <c:v>1066.6500000000003</c:v>
                </c:pt>
                <c:pt idx="20">
                  <c:v>958.65000000000043</c:v>
                </c:pt>
                <c:pt idx="21">
                  <c:v>830.70000000000016</c:v>
                </c:pt>
                <c:pt idx="22">
                  <c:v>888.9799999999999</c:v>
                </c:pt>
                <c:pt idx="23">
                  <c:v>815.1</c:v>
                </c:pt>
                <c:pt idx="24">
                  <c:v>853.35</c:v>
                </c:pt>
                <c:pt idx="25">
                  <c:v>928.45000000000027</c:v>
                </c:pt>
                <c:pt idx="26">
                  <c:v>758.90000000000032</c:v>
                </c:pt>
                <c:pt idx="27">
                  <c:v>749.20000000000027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69-4E46-BF56-D6720AE40932}"/>
            </c:ext>
          </c:extLst>
        </c:ser>
        <c:ser>
          <c:idx val="2"/>
          <c:order val="2"/>
          <c:tx>
            <c:strRef>
              <c:f>'Revenue Graphs'!$D$17:$D$18</c:f>
              <c:strCache>
                <c:ptCount val="1"/>
                <c:pt idx="0">
                  <c:v>Lower Manhattan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'Revenue Graphs'!$A$19:$A$47</c:f>
              <c:strCache>
                <c:ptCount val="28"/>
                <c:pt idx="0">
                  <c:v>01-Feb</c:v>
                </c:pt>
                <c:pt idx="1">
                  <c:v>02-Feb</c:v>
                </c:pt>
                <c:pt idx="2">
                  <c:v>03-Feb</c:v>
                </c:pt>
                <c:pt idx="3">
                  <c:v>04-Feb</c:v>
                </c:pt>
                <c:pt idx="4">
                  <c:v>05-Feb</c:v>
                </c:pt>
                <c:pt idx="5">
                  <c:v>06-Feb</c:v>
                </c:pt>
                <c:pt idx="6">
                  <c:v>07-Feb</c:v>
                </c:pt>
                <c:pt idx="7">
                  <c:v>08-Feb</c:v>
                </c:pt>
                <c:pt idx="8">
                  <c:v>09-Feb</c:v>
                </c:pt>
                <c:pt idx="9">
                  <c:v>10-Feb</c:v>
                </c:pt>
                <c:pt idx="10">
                  <c:v>11-Feb</c:v>
                </c:pt>
                <c:pt idx="11">
                  <c:v>12-Feb</c:v>
                </c:pt>
                <c:pt idx="12">
                  <c:v>13-Feb</c:v>
                </c:pt>
                <c:pt idx="13">
                  <c:v>14-Feb</c:v>
                </c:pt>
                <c:pt idx="14">
                  <c:v>15-Feb</c:v>
                </c:pt>
                <c:pt idx="15">
                  <c:v>16-Feb</c:v>
                </c:pt>
                <c:pt idx="16">
                  <c:v>17-Feb</c:v>
                </c:pt>
                <c:pt idx="17">
                  <c:v>18-Feb</c:v>
                </c:pt>
                <c:pt idx="18">
                  <c:v>19-Feb</c:v>
                </c:pt>
                <c:pt idx="19">
                  <c:v>20-Feb</c:v>
                </c:pt>
                <c:pt idx="20">
                  <c:v>21-Feb</c:v>
                </c:pt>
                <c:pt idx="21">
                  <c:v>22-Feb</c:v>
                </c:pt>
                <c:pt idx="22">
                  <c:v>23-Feb</c:v>
                </c:pt>
                <c:pt idx="23">
                  <c:v>24-Feb</c:v>
                </c:pt>
                <c:pt idx="24">
                  <c:v>25-Feb</c:v>
                </c:pt>
                <c:pt idx="25">
                  <c:v>26-Feb</c:v>
                </c:pt>
                <c:pt idx="26">
                  <c:v>27-Feb</c:v>
                </c:pt>
                <c:pt idx="27">
                  <c:v>28-Feb</c:v>
                </c:pt>
              </c:strCache>
            </c:strRef>
          </c:cat>
          <c:val>
            <c:numRef>
              <c:f>'Revenue Graphs'!$D$19:$D$47</c:f>
              <c:numCache>
                <c:formatCode>_-[$R-1C09]* #\ ##0.00_-;\-[$R-1C09]* #\ ##0.00_-;_-[$R-1C09]* "-"??_-;_-@_-</c:formatCode>
                <c:ptCount val="28"/>
                <c:pt idx="0">
                  <c:v>783.19999999999993</c:v>
                </c:pt>
                <c:pt idx="1">
                  <c:v>678.15000000000009</c:v>
                </c:pt>
                <c:pt idx="2">
                  <c:v>755.25000000000023</c:v>
                </c:pt>
                <c:pt idx="3">
                  <c:v>881.10000000000014</c:v>
                </c:pt>
                <c:pt idx="4">
                  <c:v>724.09999999999991</c:v>
                </c:pt>
                <c:pt idx="5">
                  <c:v>751.9</c:v>
                </c:pt>
                <c:pt idx="6">
                  <c:v>737</c:v>
                </c:pt>
                <c:pt idx="7">
                  <c:v>883.7</c:v>
                </c:pt>
                <c:pt idx="8">
                  <c:v>884.58</c:v>
                </c:pt>
                <c:pt idx="9">
                  <c:v>961.3000000000003</c:v>
                </c:pt>
                <c:pt idx="10">
                  <c:v>825.48000000000036</c:v>
                </c:pt>
                <c:pt idx="11">
                  <c:v>1087.5999999999995</c:v>
                </c:pt>
                <c:pt idx="12">
                  <c:v>1018.4300000000002</c:v>
                </c:pt>
                <c:pt idx="13">
                  <c:v>763.22999999999979</c:v>
                </c:pt>
                <c:pt idx="14">
                  <c:v>822.84999999999991</c:v>
                </c:pt>
                <c:pt idx="15">
                  <c:v>923.8000000000003</c:v>
                </c:pt>
                <c:pt idx="16">
                  <c:v>695.55000000000018</c:v>
                </c:pt>
                <c:pt idx="17">
                  <c:v>746.45000000000027</c:v>
                </c:pt>
                <c:pt idx="18">
                  <c:v>891.00000000000023</c:v>
                </c:pt>
                <c:pt idx="19">
                  <c:v>1056.7500000000002</c:v>
                </c:pt>
                <c:pt idx="20">
                  <c:v>954.4</c:v>
                </c:pt>
                <c:pt idx="21">
                  <c:v>1060.4999999999998</c:v>
                </c:pt>
                <c:pt idx="22">
                  <c:v>952.73000000000025</c:v>
                </c:pt>
                <c:pt idx="23">
                  <c:v>1138.7</c:v>
                </c:pt>
                <c:pt idx="24">
                  <c:v>1156.6500000000001</c:v>
                </c:pt>
                <c:pt idx="25">
                  <c:v>997.40000000000009</c:v>
                </c:pt>
                <c:pt idx="26">
                  <c:v>1469.2499999999995</c:v>
                </c:pt>
                <c:pt idx="27">
                  <c:v>719.00000000000011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69-4E46-BF56-D6720AE40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4523200"/>
        <c:axId val="764520320"/>
      </c:lineChart>
      <c:catAx>
        <c:axId val="7645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20320"/>
        <c:crosses val="autoZero"/>
        <c:auto val="1"/>
        <c:lblAlgn val="ctr"/>
        <c:lblOffset val="100"/>
        <c:noMultiLvlLbl val="0"/>
      </c:catAx>
      <c:valAx>
        <c:axId val="76452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23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[Brightlearning_coffee_shop_output.xlsx]Revenue Graphs!PivotTable3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Weekend vs Weekdays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'Revenue Graphs'!$B$50:$B$51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'Revenue Graphs'!$A$52:$A$58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Graphs'!$B$52:$B$58</c:f>
              <c:numCache>
                <c:formatCode>_-[$R-1C09]* #\ ##0.00_-;\-[$R-1C09]* #\ ##0.00_-;_-[$R-1C09]* "-"??_-;_-@_-</c:formatCode>
                <c:ptCount val="6"/>
                <c:pt idx="0">
                  <c:v>58513.109999999288</c:v>
                </c:pt>
                <c:pt idx="1">
                  <c:v>54002.66999999946</c:v>
                </c:pt>
                <c:pt idx="2">
                  <c:v>73367.32999999926</c:v>
                </c:pt>
                <c:pt idx="3">
                  <c:v>79592.509999999689</c:v>
                </c:pt>
                <c:pt idx="4">
                  <c:v>116627.84000000078</c:v>
                </c:pt>
                <c:pt idx="5">
                  <c:v>121484.08000000159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3C-49EC-9D15-C061B286E410}"/>
            </c:ext>
          </c:extLst>
        </c:ser>
        <c:ser>
          <c:idx val="1"/>
          <c:order val="1"/>
          <c:tx>
            <c:strRef>
              <c:f>'Revenue Graphs'!$C$50:$C$51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'Revenue Graphs'!$A$52:$A$58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Graphs'!$C$52:$C$58</c:f>
              <c:numCache>
                <c:formatCode>_-[$R-1C09]* #\ ##0.00_-;\-[$R-1C09]* #\ ##0.00_-;_-[$R-1C09]* "-"??_-;_-@_-</c:formatCode>
                <c:ptCount val="6"/>
                <c:pt idx="0">
                  <c:v>23164.630000000041</c:v>
                </c:pt>
                <c:pt idx="1">
                  <c:v>22142.520000000026</c:v>
                </c:pt>
                <c:pt idx="2">
                  <c:v>25467.34999999998</c:v>
                </c:pt>
                <c:pt idx="3">
                  <c:v>39348.569999999796</c:v>
                </c:pt>
                <c:pt idx="4">
                  <c:v>40099.919999999605</c:v>
                </c:pt>
                <c:pt idx="5">
                  <c:v>45001.799999999595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3C-49EC-9D15-C061B286E4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997717520"/>
        <c:axId val="997718000"/>
      </c:barChart>
      <c:catAx>
        <c:axId val="997717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7718000"/>
        <c:crosses val="autoZero"/>
        <c:auto val="1"/>
        <c:lblAlgn val="ctr"/>
        <c:lblOffset val="100"/>
        <c:noMultiLvlLbl val="0"/>
      </c:catAx>
      <c:valAx>
        <c:axId val="997718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7717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[Brightlearning_coffee_shop_output.xlsx]Revenue Graphs!PivotTable4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Total Revenue</a:t>
            </a:r>
            <a:r>
              <a:rPr lang="en-ZA" baseline="0"/>
              <a:t> over time period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'Revenue Graphs'!$B$66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'Revenue Graphs'!$A$67:$A$71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null</c:v>
                </c:pt>
              </c:strCache>
            </c:strRef>
          </c:cat>
          <c:val>
            <c:numRef>
              <c:f>'Revenue Graphs'!$B$67:$B$71</c:f>
              <c:numCache>
                <c:formatCode>_-[$R-1C09]* #\ ##0.00_-;\-[$R-1C09]* #\ ##0.00_-;_-[$R-1C09]* "-"??_-;_-@_-</c:formatCode>
                <c:ptCount val="4"/>
                <c:pt idx="0">
                  <c:v>204050.13000000609</c:v>
                </c:pt>
                <c:pt idx="1">
                  <c:v>105802.82999999941</c:v>
                </c:pt>
                <c:pt idx="2">
                  <c:v>388288.66999999463</c:v>
                </c:pt>
                <c:pt idx="3">
                  <c:v>670.70000000000016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C0-48DA-905A-C88DC7E15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17115184"/>
        <c:axId val="1017116144"/>
      </c:barChart>
      <c:catAx>
        <c:axId val="1017115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7116144"/>
        <c:crosses val="autoZero"/>
        <c:auto val="1"/>
        <c:lblAlgn val="ctr"/>
        <c:lblOffset val="100"/>
        <c:noMultiLvlLbl val="0"/>
      </c:catAx>
      <c:valAx>
        <c:axId val="101711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7115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[Brightlearning_coffee_shop_output.xlsx]Product Sales!PivotTable5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'Product Sales'!$B$3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Sales'!$A$4:$A$13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'Product Sales'!$B$4:$B$13</c:f>
              <c:numCache>
                <c:formatCode>General</c:formatCode>
                <c:ptCount val="9"/>
                <c:pt idx="0">
                  <c:v>22534</c:v>
                </c:pt>
                <c:pt idx="1">
                  <c:v>747</c:v>
                </c:pt>
                <c:pt idx="2">
                  <c:v>58303</c:v>
                </c:pt>
                <c:pt idx="3">
                  <c:v>1753</c:v>
                </c:pt>
                <c:pt idx="4">
                  <c:v>11462</c:v>
                </c:pt>
                <c:pt idx="5">
                  <c:v>6787</c:v>
                </c:pt>
                <c:pt idx="6">
                  <c:v>1210</c:v>
                </c:pt>
                <c:pt idx="7">
                  <c:v>487</c:v>
                </c:pt>
                <c:pt idx="8">
                  <c:v>45419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0A-4059-865D-DCE2FE1B0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9332256"/>
        <c:axId val="1019333216"/>
      </c:barChart>
      <c:catAx>
        <c:axId val="1019332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333216"/>
        <c:crosses val="autoZero"/>
        <c:auto val="1"/>
        <c:lblAlgn val="ctr"/>
        <c:lblOffset val="100"/>
        <c:noMultiLvlLbl val="0"/>
      </c:catAx>
      <c:valAx>
        <c:axId val="1019333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332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[Brightlearning_coffee_shop_output.xlsx]Product Sales!PivotTable6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High and Low spent in Months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'Product Sales'!$B$19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'Product Sales'!$A$20:$A$49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'Product Sales'!$B$20:$B$49</c:f>
              <c:numCache>
                <c:formatCode>General</c:formatCode>
                <c:ptCount val="29"/>
                <c:pt idx="0">
                  <c:v>16311</c:v>
                </c:pt>
                <c:pt idx="1">
                  <c:v>5711</c:v>
                </c:pt>
                <c:pt idx="2">
                  <c:v>303</c:v>
                </c:pt>
                <c:pt idx="3">
                  <c:v>11342</c:v>
                </c:pt>
                <c:pt idx="4">
                  <c:v>17169</c:v>
                </c:pt>
                <c:pt idx="5">
                  <c:v>5667</c:v>
                </c:pt>
                <c:pt idx="6">
                  <c:v>11241</c:v>
                </c:pt>
                <c:pt idx="7">
                  <c:v>443</c:v>
                </c:pt>
                <c:pt idx="8">
                  <c:v>221</c:v>
                </c:pt>
                <c:pt idx="9">
                  <c:v>266</c:v>
                </c:pt>
                <c:pt idx="10">
                  <c:v>8465</c:v>
                </c:pt>
                <c:pt idx="11">
                  <c:v>319</c:v>
                </c:pt>
                <c:pt idx="12">
                  <c:v>366</c:v>
                </c:pt>
                <c:pt idx="13">
                  <c:v>16907</c:v>
                </c:pt>
                <c:pt idx="14">
                  <c:v>134</c:v>
                </c:pt>
                <c:pt idx="15">
                  <c:v>159</c:v>
                </c:pt>
                <c:pt idx="16">
                  <c:v>305</c:v>
                </c:pt>
                <c:pt idx="17">
                  <c:v>11462</c:v>
                </c:pt>
                <c:pt idx="18">
                  <c:v>183</c:v>
                </c:pt>
                <c:pt idx="19">
                  <c:v>526</c:v>
                </c:pt>
                <c:pt idx="20">
                  <c:v>415</c:v>
                </c:pt>
                <c:pt idx="21">
                  <c:v>8488</c:v>
                </c:pt>
                <c:pt idx="22">
                  <c:v>221</c:v>
                </c:pt>
                <c:pt idx="23">
                  <c:v>6667</c:v>
                </c:pt>
                <c:pt idx="24">
                  <c:v>336</c:v>
                </c:pt>
                <c:pt idx="25">
                  <c:v>8132</c:v>
                </c:pt>
                <c:pt idx="26">
                  <c:v>4977</c:v>
                </c:pt>
                <c:pt idx="27">
                  <c:v>10156</c:v>
                </c:pt>
                <c:pt idx="28">
                  <c:v>1810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50-4256-85FE-A801708288B6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11254640"/>
        <c:axId val="1011256080"/>
      </c:barChart>
      <c:catAx>
        <c:axId val="1011254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256080"/>
        <c:crosses val="autoZero"/>
        <c:auto val="1"/>
        <c:lblAlgn val="ctr"/>
        <c:lblOffset val="100"/>
        <c:noMultiLvlLbl val="0"/>
      </c:catAx>
      <c:valAx>
        <c:axId val="1011256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254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B0E5-9F72-342E-6DF4-9EF7AD0BF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96699-78EF-47C4-27C8-CE740EBE4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DFAAA-496E-264D-1EED-B6F34C4D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53343-3AC6-7E23-E684-65BE5928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19329-F3B2-431B-98AD-81A879AA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086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5AFD-8B3D-FE01-3ED0-ACB42065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1F96E-CBA4-93A4-6E0A-03E8FE16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5ACA3-0D25-9865-1282-80B84B1F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ACC62-C402-8630-F41F-972F3981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05F22-82E1-EDA0-2C2B-428A13A6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6445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1342-C0F2-0675-0061-054988D5B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40595-134F-7A88-AA28-FEE1A6881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97C3C-FA34-CF1E-5692-533A40CB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93200-E4C0-5E96-2B90-AEF83AED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4D74C-8541-CFB0-B49D-13B2C8FE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109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F01C-EC1C-D2DF-87F9-6E9CA8DD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56DE2-6F74-E85B-98AC-A2AC4D6F9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0F6D6-FB79-09EE-142D-BB5698D5D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2DE49-3190-9B1B-434B-182F9ECB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5479-808D-F622-91E5-E5C13FF9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635DB-78E8-5746-5599-416C35B4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36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5506-5537-CB4F-5CBF-4859F049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38670-B568-866E-0247-CF2AB3973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E27CD-01A6-4136-98A3-5EE379FA6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FFDD5-D949-4A0D-DE3A-6FD307D73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E97D02-AFD1-1B82-4722-5BF19A440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CE89B-9725-7766-2E5F-46085B07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8F468-D894-A9BD-AB5B-4F505FEB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376C6-44FA-B884-980A-0B341E9A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426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C750-B63B-BEBD-BF86-09A6E982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BAF98-BE60-612A-8995-80C37AB3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96B71-48A6-A86C-07FD-ACD3D081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BC531-96EA-5CAA-1863-1476AC2D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721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E609D8-37A5-8BAB-88FD-87F5BE8E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971AA-D64C-4AE0-B1C4-D92E5DE2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5F89D-0E8F-F2A0-4BD2-FAFD428C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028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2942-F9D3-B755-B456-6F79D254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FF5D1-5C51-3D1C-728D-07CD6AAC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DC05B-B727-4010-DA3E-D560BB61F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D7694-08D1-9C2F-4888-016738FB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E38EE-CA12-9661-C254-FF1C0A80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09390-358C-F245-A64C-43832671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149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6F3B-7543-40C6-274C-2D87A43C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AB657-4099-52B5-8AA8-34A25DB3F9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B57C6-3CBC-16FF-C45E-34E8538E2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45535-1AA4-14AE-B8B1-4B5A8968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97376-8A29-568E-8629-0117A346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C3ED5-8D55-4368-2F0B-2F487F60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077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D120-D4E5-82DF-599A-C4DE9219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6F1AD-52AA-42BF-451D-DAABE3F21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A4BF9-DCB3-6363-5360-E138EBCC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C3A72-15E2-CF33-FEAE-20E86043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88BFE-F6D1-0030-72C8-07A256C7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500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5743D-BC76-4E38-52FA-1EA438784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48508-16EC-65A4-E210-DD59A92EE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467F4-2372-9F17-9DFC-4AB449BDC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5706-77E0-2D64-A65E-6054783F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D8274-E2A6-55C5-6894-31B25041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946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EF850-7CEA-6B7C-B66B-659A631DC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1EDB4-343C-01DD-D6D2-7F94D5CDC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0F77-9F76-85FA-504A-9F1F69567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39E12-B3F4-4EB3-A911-30E6637629E0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52B59-D6F8-1CCC-B0C7-3C26A8C1B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B0DD-0D92-76B8-176D-B91313349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F4AB6-F536-4CB2-AC05-F80E3A760C9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573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spresso machine with ground coffee">
            <a:extLst>
              <a:ext uri="{FF2B5EF4-FFF2-40B4-BE49-F238E27FC236}">
                <a16:creationId xmlns:a16="http://schemas.microsoft.com/office/drawing/2014/main" id="{E7FB56B1-242F-3920-870D-077AC3747B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F58BB-38F6-3178-4E89-32A6767A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en-ZA" sz="3600"/>
              <a:t>Bright Coffee Shop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1899D-02EB-06B8-C3DF-6345CCEF8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/>
          </a:bodyPr>
          <a:lstStyle/>
          <a:p>
            <a:pPr algn="l"/>
            <a:r>
              <a:rPr lang="en-ZA" sz="1800" dirty="0"/>
              <a:t>Asanda Mdyosi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88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262C87B-205C-4719-AC60-AF13E94F1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22626"/>
            <a:ext cx="5772560" cy="6212748"/>
          </a:xfrm>
          <a:custGeom>
            <a:avLst/>
            <a:gdLst>
              <a:gd name="connsiteX0" fmla="*/ 0 w 5772560"/>
              <a:gd name="connsiteY0" fmla="*/ 0 h 6212748"/>
              <a:gd name="connsiteX1" fmla="*/ 1448661 w 5772560"/>
              <a:gd name="connsiteY1" fmla="*/ 0 h 6212748"/>
              <a:gd name="connsiteX2" fmla="*/ 1940557 w 5772560"/>
              <a:gd name="connsiteY2" fmla="*/ 0 h 6212748"/>
              <a:gd name="connsiteX3" fmla="*/ 5772560 w 5772560"/>
              <a:gd name="connsiteY3" fmla="*/ 0 h 6212748"/>
              <a:gd name="connsiteX4" fmla="*/ 5772560 w 5772560"/>
              <a:gd name="connsiteY4" fmla="*/ 2864954 h 6212748"/>
              <a:gd name="connsiteX5" fmla="*/ 2329115 w 5772560"/>
              <a:gd name="connsiteY5" fmla="*/ 6212748 h 6212748"/>
              <a:gd name="connsiteX6" fmla="*/ 1940557 w 5772560"/>
              <a:gd name="connsiteY6" fmla="*/ 6212748 h 6212748"/>
              <a:gd name="connsiteX7" fmla="*/ 1448661 w 5772560"/>
              <a:gd name="connsiteY7" fmla="*/ 6212748 h 6212748"/>
              <a:gd name="connsiteX8" fmla="*/ 0 w 5772560"/>
              <a:gd name="connsiteY8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2560" h="6212748">
                <a:moveTo>
                  <a:pt x="0" y="0"/>
                </a:moveTo>
                <a:lnTo>
                  <a:pt x="1448661" y="0"/>
                </a:lnTo>
                <a:lnTo>
                  <a:pt x="1940557" y="0"/>
                </a:lnTo>
                <a:lnTo>
                  <a:pt x="5772560" y="0"/>
                </a:lnTo>
                <a:lnTo>
                  <a:pt x="5772560" y="2864954"/>
                </a:lnTo>
                <a:lnTo>
                  <a:pt x="2329115" y="6212748"/>
                </a:lnTo>
                <a:lnTo>
                  <a:pt x="1940557" y="6212748"/>
                </a:lnTo>
                <a:lnTo>
                  <a:pt x="1448661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E437B0-80BD-B6C5-E7D8-304598F9A2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8932" y="3086513"/>
            <a:ext cx="3630543" cy="20565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Trend Analysis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Look at monthly or weekly revenue patterns. Are sales growing steadily, seasonal (e.g., spikes in winter for hot drinks)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10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100">
                <a:latin typeface="Arial" panose="020B0604020202020204" pitchFamily="34" charset="0"/>
              </a:rPr>
              <a:t>Assess which categories drive the most revenue.</a:t>
            </a:r>
          </a:p>
          <a:p>
            <a:pPr marL="0" indent="0">
              <a:buNone/>
            </a:pPr>
            <a:endParaRPr lang="en-US" sz="110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>
                <a:latin typeface="Arial" panose="020B0604020202020204" pitchFamily="34" charset="0"/>
              </a:rPr>
              <a:t>The month of Jun had most revenue especially for the Hell's Kitchen store</a:t>
            </a:r>
            <a:endParaRPr lang="en-ZA" sz="110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A2A5203-4BFF-3067-973C-07EF38527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400146"/>
              </p:ext>
            </p:extLst>
          </p:nvPr>
        </p:nvGraphicFramePr>
        <p:xfrm>
          <a:off x="800100" y="1266742"/>
          <a:ext cx="5295898" cy="4304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26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9C56A-096F-96C4-7046-186AE24C1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428236" cy="27281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Peak Periods: </a:t>
            </a:r>
          </a:p>
          <a:p>
            <a:pPr marL="0" indent="0"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Identify the highest revenue periods weekends, holidays, or specific promotions.</a:t>
            </a:r>
          </a:p>
          <a:p>
            <a:pPr marL="0" indent="0"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Looking at Feb with most sales. This could be due to Valentine's day that is most promoted and gets more sales. </a:t>
            </a:r>
          </a:p>
          <a:p>
            <a:endParaRPr lang="en-ZA" sz="17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804D1ED-AC33-D9F0-F0EA-BE820403F9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7450126"/>
              </p:ext>
            </p:extLst>
          </p:nvPr>
        </p:nvGraphicFramePr>
        <p:xfrm>
          <a:off x="1123357" y="1188637"/>
          <a:ext cx="3533985" cy="4557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559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1C67D0-A496-4B86-BF61-263FF9EFD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A1CCD-0F28-4BD1-87A5-9E9CEB72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583" y="2107084"/>
            <a:ext cx="4811762" cy="34000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en-US" sz="1100" b="1" dirty="0">
                <a:latin typeface="Arial" panose="020B0604020202020204" pitchFamily="34" charset="0"/>
              </a:rPr>
              <a:t>Growth Rate</a:t>
            </a:r>
            <a:r>
              <a:rPr lang="en-US" altLang="en-US" sz="1100" dirty="0">
                <a:latin typeface="Arial" panose="020B0604020202020204" pitchFamily="34" charset="0"/>
              </a:rPr>
              <a:t>: </a:t>
            </a:r>
          </a:p>
          <a:p>
            <a:endParaRPr lang="en-US" altLang="en-US" sz="11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100" dirty="0">
                <a:latin typeface="Arial" panose="020B0604020202020204" pitchFamily="34" charset="0"/>
              </a:rPr>
              <a:t>Compare month-over-month growth to see if the coffee shop is expanding or plateauing.</a:t>
            </a:r>
          </a:p>
          <a:p>
            <a:pPr marL="0" indent="0">
              <a:buNone/>
            </a:pPr>
            <a:r>
              <a:rPr lang="en-US" altLang="en-US" sz="1100" dirty="0">
                <a:latin typeface="Arial" panose="020B0604020202020204" pitchFamily="34" charset="0"/>
              </a:rPr>
              <a:t>During the week we see more sales than the weekend. This could be due to the location of the stores, as most people would buy for lunch items as well.</a:t>
            </a:r>
          </a:p>
          <a:p>
            <a:pPr marL="0" indent="0">
              <a:buNone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100" dirty="0">
                <a:latin typeface="Arial" panose="020B0604020202020204" pitchFamily="34" charset="0"/>
              </a:rPr>
              <a:t>Weekend are also 2 day in comparison to 5 weekday/ working days</a:t>
            </a:r>
          </a:p>
          <a:p>
            <a:endParaRPr lang="en-ZA" sz="11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C96817C-7C75-43FB-D5DC-214B1C894A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081355"/>
              </p:ext>
            </p:extLst>
          </p:nvPr>
        </p:nvGraphicFramePr>
        <p:xfrm>
          <a:off x="758536" y="1188636"/>
          <a:ext cx="4537532" cy="4581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0900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D73BA-65DD-4158-E76B-2A754654E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407" y="2926570"/>
            <a:ext cx="4428236" cy="27281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We have more sales in the morning time than any other time.</a:t>
            </a:r>
          </a:p>
          <a:p>
            <a:endParaRPr lang="en-US" altLang="en-US" sz="2000" dirty="0">
              <a:latin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43DAF23-B744-B5D5-0AAE-439AE814C1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699590"/>
              </p:ext>
            </p:extLst>
          </p:nvPr>
        </p:nvGraphicFramePr>
        <p:xfrm>
          <a:off x="1123357" y="1188637"/>
          <a:ext cx="5038866" cy="4557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496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1C67D0-A496-4B86-BF61-263FF9EFD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2CED-BB91-DB61-802B-36741E845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700" y="3086514"/>
            <a:ext cx="3712817" cy="245756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ZA" sz="1600" b="1" dirty="0"/>
              <a:t>Product Sales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We see that Coffee and Tea are the most sold product. Looking the 1</a:t>
            </a:r>
            <a:r>
              <a:rPr lang="en-ZA" sz="1600" baseline="30000" dirty="0"/>
              <a:t>st</a:t>
            </a:r>
            <a:r>
              <a:rPr lang="en-ZA" sz="1600" dirty="0"/>
              <a:t> graph, these sales are in winter when its cold. 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This would make sense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641CEB2-98C9-51AF-5817-1C595D4ACE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518299"/>
              </p:ext>
            </p:extLst>
          </p:nvPr>
        </p:nvGraphicFramePr>
        <p:xfrm>
          <a:off x="1212502" y="1188636"/>
          <a:ext cx="4244758" cy="4581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9915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CCAC2-0FF3-7C80-15F8-B7B7D1A0C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407" y="2832023"/>
            <a:ext cx="4428236" cy="27281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ZA" sz="2000" dirty="0"/>
              <a:t>From here we can tell a specific Tea that is sold a lot during winter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280BDB0-BD55-AA7B-8677-5CCD7DF2F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574943"/>
              </p:ext>
            </p:extLst>
          </p:nvPr>
        </p:nvGraphicFramePr>
        <p:xfrm>
          <a:off x="1123357" y="1188637"/>
          <a:ext cx="5298225" cy="4557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010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245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Bright Coffee Shop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Asanda Mdyosi</dc:creator>
  <cp:lastModifiedBy>Asanda Mdyosi</cp:lastModifiedBy>
  <cp:revision>1</cp:revision>
  <dcterms:created xsi:type="dcterms:W3CDTF">2026-03-31T12:00:12Z</dcterms:created>
  <dcterms:modified xsi:type="dcterms:W3CDTF">2026-03-31T12:47:57Z</dcterms:modified>
</cp:coreProperties>
</file>